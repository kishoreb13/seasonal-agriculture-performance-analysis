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3"/>
  </p:notesMasterIdLst>
  <p:handoutMasterIdLst>
    <p:handoutMasterId r:id="rId24"/>
  </p:handoutMasterIdLst>
  <p:sldIdLst>
    <p:sldId id="338" r:id="rId5"/>
    <p:sldId id="327" r:id="rId6"/>
    <p:sldId id="315" r:id="rId7"/>
    <p:sldId id="347" r:id="rId8"/>
    <p:sldId id="329" r:id="rId9"/>
    <p:sldId id="302" r:id="rId10"/>
    <p:sldId id="339" r:id="rId11"/>
    <p:sldId id="344" r:id="rId12"/>
    <p:sldId id="351" r:id="rId13"/>
    <p:sldId id="350" r:id="rId14"/>
    <p:sldId id="345" r:id="rId15"/>
    <p:sldId id="346" r:id="rId16"/>
    <p:sldId id="348" r:id="rId17"/>
    <p:sldId id="349" r:id="rId18"/>
    <p:sldId id="341" r:id="rId19"/>
    <p:sldId id="342" r:id="rId20"/>
    <p:sldId id="343" r:id="rId21"/>
    <p:sldId id="30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838" autoAdjust="0"/>
    <p:restoredTop sz="95033" autoAdjust="0"/>
  </p:normalViewPr>
  <p:slideViewPr>
    <p:cSldViewPr snapToGrid="0">
      <p:cViewPr varScale="1">
        <p:scale>
          <a:sx n="73" d="100"/>
          <a:sy n="73" d="100"/>
        </p:scale>
        <p:origin x="-546" y="-102"/>
      </p:cViewPr>
      <p:guideLst>
        <p:guide orient="horz" pos="1968"/>
        <p:guide orient="horz" pos="3912"/>
        <p:guide orient="horz" pos="1656"/>
        <p:guide pos="408"/>
        <p:guide pos="7272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pPr/>
              <a:t>9/6/2026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2237" y="4093365"/>
            <a:ext cx="9889671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 smtClean="0">
                <a:solidFill>
                  <a:schemeClr val="tx1"/>
                </a:solidFill>
              </a:rPr>
              <a:t>Student Name: KISHORE B 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</a:t>
            </a:r>
            <a:r>
              <a:rPr lang="en-US" b="0" dirty="0" smtClean="0">
                <a:solidFill>
                  <a:schemeClr val="tx1"/>
                </a:solidFill>
              </a:rPr>
              <a:t>Name: DAYANANDA SAGAR ACADEMY OF TECHNOLOGY &amp; MANAGEMENT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483" y="2727183"/>
            <a:ext cx="9092653" cy="1152485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SEASONAL AGRICULTURE PERFORMANCE ANALYSIS</a:t>
            </a:r>
            <a:endParaRPr lang="en-IN" sz="36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xmlns="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7F04107-8754-E47D-3375-529E689711FA}"/>
              </a:ext>
            </a:extLst>
          </p:cNvPr>
          <p:cNvSpPr txBox="1"/>
          <p:nvPr/>
        </p:nvSpPr>
        <p:spPr>
          <a:xfrm>
            <a:off x="656959" y="5948069"/>
            <a:ext cx="588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</a:t>
            </a:r>
            <a:r>
              <a:rPr lang="en-US" b="1" dirty="0" smtClean="0"/>
              <a:t>STU6a69f516665051785328918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8640" y="1658984"/>
            <a:ext cx="8582297" cy="491163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2800" dirty="0" smtClean="0"/>
              <a:t>Agricultural </a:t>
            </a:r>
            <a:r>
              <a:rPr lang="en-US" sz="2800" dirty="0" smtClean="0"/>
              <a:t>performance changes across seasons due to variations in:</a:t>
            </a:r>
          </a:p>
          <a:p>
            <a:r>
              <a:rPr lang="en-US" sz="2800" dirty="0" smtClean="0"/>
              <a:t>Environmental conditions </a:t>
            </a:r>
          </a:p>
          <a:p>
            <a:r>
              <a:rPr lang="en-US" sz="2800" dirty="0" smtClean="0"/>
              <a:t>Farming practices </a:t>
            </a:r>
          </a:p>
          <a:p>
            <a:r>
              <a:rPr lang="en-US" sz="2800" dirty="0" smtClean="0"/>
              <a:t>Resource availability </a:t>
            </a:r>
          </a:p>
          <a:p>
            <a:r>
              <a:rPr lang="en-US" sz="2800" dirty="0" smtClean="0"/>
              <a:t>Crop characteristics </a:t>
            </a:r>
          </a:p>
          <a:p>
            <a:r>
              <a:rPr lang="en-US" sz="2800" dirty="0" smtClean="0"/>
              <a:t>Economic conditions </a:t>
            </a:r>
            <a:endParaRPr lang="en-US" sz="2800" b="1" dirty="0" smtClean="0"/>
          </a:p>
          <a:p>
            <a:pPr>
              <a:buNone/>
            </a:pP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Raw agricultural data does not clearly show how performance changes across seasons.</a:t>
            </a:r>
          </a:p>
          <a:p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Analyze seasonal patterns, relationships and variations to support </a:t>
            </a:r>
            <a:r>
              <a:rPr lang="en-US" sz="2800" b="1" dirty="0" smtClean="0"/>
              <a:t>data-driven agricultural planning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This closely follows the problem framing in your project template. </a:t>
            </a:r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541" y="3348846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147" y="426391"/>
            <a:ext cx="7725955" cy="788456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  <a:br>
              <a:rPr lang="en-GB" dirty="0" smtClean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9451" y="1211222"/>
            <a:ext cx="9927771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Analyzes </a:t>
            </a:r>
            <a:r>
              <a:rPr lang="en-US" sz="2000" dirty="0" smtClean="0"/>
              <a:t>4,000 agricultural records with 28 features. 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Compares agricultural performance across </a:t>
            </a:r>
            <a:r>
              <a:rPr lang="en-US" sz="2000" dirty="0" err="1" smtClean="0"/>
              <a:t>Kharif</a:t>
            </a:r>
            <a:r>
              <a:rPr lang="en-US" sz="2000" dirty="0" smtClean="0"/>
              <a:t>, Rabi and </a:t>
            </a:r>
            <a:r>
              <a:rPr lang="en-US" sz="2000" dirty="0" err="1" smtClean="0"/>
              <a:t>Zaid</a:t>
            </a:r>
            <a:r>
              <a:rPr lang="en-US" sz="2000" dirty="0" smtClean="0"/>
              <a:t> seasons. 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Studies crop productivity, profitability and resource utilization. 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Examines environmental factors such as rainfall, temperature, humidity and sunlight. 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Analyzes soil, nutrients, irrigation, water efficiency and disease/pest risk. 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Uses statistical analysis and machine learning to identify important patterns. 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Develops an Agricultural Performance Index (API) for overall comparison. 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Predicts crop yield using regression models. 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Your notebook confirms the dataset contains 4,000 records and 28 features.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09451" y="352697"/>
            <a:ext cx="64530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OBJECTIVES</a:t>
            </a:r>
            <a:endParaRPr lang="en-US" sz="4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70263" y="1384662"/>
            <a:ext cx="1058091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Understand seasonal agricultural performance. </a:t>
            </a:r>
            <a:endParaRPr lang="en-US" sz="20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Clean </a:t>
            </a:r>
            <a:r>
              <a:rPr lang="en-US" sz="2000" dirty="0" smtClean="0"/>
              <a:t>and prepare agricultural data for analysis. </a:t>
            </a:r>
            <a:endParaRPr lang="en-US" sz="20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Compare </a:t>
            </a:r>
            <a:r>
              <a:rPr lang="en-US" sz="2000" dirty="0" smtClean="0"/>
              <a:t>crop yield and production across seasons. </a:t>
            </a:r>
            <a:endParaRPr lang="en-US" sz="20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Analyze </a:t>
            </a:r>
            <a:r>
              <a:rPr lang="en-US" sz="2000" dirty="0" smtClean="0"/>
              <a:t>environmental and soil conditions. </a:t>
            </a:r>
            <a:endParaRPr lang="en-US" sz="20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Study </a:t>
            </a:r>
            <a:r>
              <a:rPr lang="en-US" sz="2000" dirty="0" smtClean="0"/>
              <a:t>irrigation and water efficiency. </a:t>
            </a:r>
            <a:endParaRPr lang="en-US" sz="20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Compare </a:t>
            </a:r>
            <a:r>
              <a:rPr lang="en-US" sz="2000" dirty="0" smtClean="0"/>
              <a:t>seasonal revenue, cost and profit. </a:t>
            </a:r>
            <a:endParaRPr lang="en-US" sz="20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Identify </a:t>
            </a:r>
            <a:r>
              <a:rPr lang="en-US" sz="2000" dirty="0" smtClean="0"/>
              <a:t>disease and pest risk patterns. </a:t>
            </a:r>
            <a:endParaRPr lang="en-US" sz="20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Apply </a:t>
            </a:r>
            <a:r>
              <a:rPr lang="en-US" sz="2000" dirty="0" smtClean="0"/>
              <a:t>statistical hypothesis testing. </a:t>
            </a:r>
            <a:endParaRPr lang="en-US" sz="20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Develop </a:t>
            </a:r>
            <a:r>
              <a:rPr lang="en-US" sz="2000" dirty="0" smtClean="0"/>
              <a:t>an Agricultural Performance Index. </a:t>
            </a:r>
            <a:endParaRPr lang="en-US" sz="2000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smtClean="0"/>
              <a:t>Predict </a:t>
            </a:r>
            <a:r>
              <a:rPr lang="en-US" sz="2000" dirty="0" smtClean="0"/>
              <a:t>crop yield using Machine Learning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201784"/>
            <a:ext cx="9781178" cy="5081450"/>
          </a:xfrm>
        </p:spPr>
        <p:txBody>
          <a:bodyPr>
            <a:normAutofit/>
          </a:bodyPr>
          <a:lstStyle/>
          <a:p>
            <a:r>
              <a:rPr lang="en-US" sz="3000" b="1" dirty="0" smtClean="0"/>
              <a:t>Farmers</a:t>
            </a:r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en-US" sz="2600" dirty="0" smtClean="0"/>
              <a:t>For seasonal crop and resource planning.</a:t>
            </a:r>
            <a:endParaRPr lang="en-US" sz="3000" dirty="0" smtClean="0"/>
          </a:p>
          <a:p>
            <a:r>
              <a:rPr lang="en-US" sz="3000" b="1" dirty="0" smtClean="0"/>
              <a:t>Agricultural </a:t>
            </a:r>
            <a:r>
              <a:rPr lang="en-US" sz="3000" b="1" dirty="0" smtClean="0"/>
              <a:t>Departments</a:t>
            </a:r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en-US" sz="2600" dirty="0" smtClean="0"/>
              <a:t>For regional and seasonal performance assessment.</a:t>
            </a:r>
            <a:endParaRPr lang="en-US" sz="3000" dirty="0" smtClean="0"/>
          </a:p>
          <a:p>
            <a:r>
              <a:rPr lang="en-US" sz="3000" b="1" dirty="0" smtClean="0"/>
              <a:t>Agricultural </a:t>
            </a:r>
            <a:r>
              <a:rPr lang="en-US" sz="3000" b="1" dirty="0" smtClean="0"/>
              <a:t>Researchers</a:t>
            </a:r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en-US" sz="2600" dirty="0" smtClean="0"/>
              <a:t>For studying crop, environmental and resource relationships.</a:t>
            </a:r>
            <a:endParaRPr lang="en-US" sz="3000" dirty="0" smtClean="0"/>
          </a:p>
          <a:p>
            <a:r>
              <a:rPr lang="en-US" sz="3000" b="1" dirty="0" smtClean="0"/>
              <a:t>Resource </a:t>
            </a:r>
            <a:r>
              <a:rPr lang="en-US" sz="3000" b="1" dirty="0" smtClean="0"/>
              <a:t>Managers</a:t>
            </a:r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en-US" sz="2600" dirty="0" smtClean="0"/>
              <a:t>For improving irrigation and water utilization.</a:t>
            </a:r>
            <a:endParaRPr lang="en-US" sz="3000" dirty="0" smtClean="0"/>
          </a:p>
          <a:p>
            <a:r>
              <a:rPr lang="en-US" sz="3000" b="1" dirty="0" smtClean="0"/>
              <a:t>Agricultural </a:t>
            </a:r>
            <a:r>
              <a:rPr lang="en-US" sz="3000" b="1" dirty="0" smtClean="0"/>
              <a:t>Analysts</a:t>
            </a:r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en-US" sz="2400" dirty="0" smtClean="0"/>
              <a:t>For data-driven decision-making and performance monitoring.</a:t>
            </a:r>
            <a:endParaRPr lang="en-US" sz="2800" dirty="0" smtClean="0"/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883" y="223475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93669" y="1214846"/>
            <a:ext cx="9470571" cy="5461162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smtClean="0"/>
              <a:t>Programming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smtClean="0"/>
              <a:t>Python 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smtClean="0"/>
              <a:t>Data Analysis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smtClean="0"/>
              <a:t>Pandas 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err="1" smtClean="0"/>
              <a:t>NumPy</a:t>
            </a:r>
            <a:r>
              <a:rPr lang="en-US" sz="1400" b="1" dirty="0" smtClean="0"/>
              <a:t> 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smtClean="0"/>
              <a:t>Visualization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err="1" smtClean="0"/>
              <a:t>Matplotlib</a:t>
            </a:r>
            <a:r>
              <a:rPr lang="en-US" sz="1400" b="1" dirty="0" smtClean="0"/>
              <a:t> 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err="1" smtClean="0"/>
              <a:t>Seaborn</a:t>
            </a:r>
            <a:r>
              <a:rPr lang="en-US" sz="1400" b="1" dirty="0" smtClean="0"/>
              <a:t> 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err="1" smtClean="0"/>
              <a:t>Plotly</a:t>
            </a:r>
            <a:r>
              <a:rPr lang="en-US" sz="1400" b="1" dirty="0" smtClean="0"/>
              <a:t> </a:t>
            </a:r>
            <a:endParaRPr lang="en-US" sz="1400" b="1" dirty="0" smtClean="0"/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smtClean="0"/>
              <a:t>Statistical Analysis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err="1" smtClean="0"/>
              <a:t>SciPy</a:t>
            </a:r>
            <a:r>
              <a:rPr lang="en-US" sz="1400" b="1" dirty="0" smtClean="0"/>
              <a:t> 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smtClean="0"/>
              <a:t>Machine Learning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err="1" smtClean="0"/>
              <a:t>Scikit</a:t>
            </a:r>
            <a:r>
              <a:rPr lang="en-US" sz="1400" b="1" dirty="0" smtClean="0"/>
              <a:t>-learn 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US" sz="1400" b="1" dirty="0" smtClean="0"/>
              <a:t>Google </a:t>
            </a:r>
            <a:r>
              <a:rPr lang="en-US" sz="1400" b="1" dirty="0" err="1" smtClean="0"/>
              <a:t>Colab</a:t>
            </a:r>
            <a:r>
              <a:rPr lang="en-US" sz="1400" b="1" dirty="0" smtClean="0"/>
              <a:t> / </a:t>
            </a:r>
            <a:r>
              <a:rPr lang="en-US" sz="1400" b="1" dirty="0" err="1" smtClean="0"/>
              <a:t>Jupyter</a:t>
            </a:r>
            <a:r>
              <a:rPr lang="en-US" sz="1400" b="1" dirty="0" smtClean="0"/>
              <a:t> Notebook </a:t>
            </a:r>
          </a:p>
          <a:p>
            <a:pPr lvl="1">
              <a:lnSpc>
                <a:spcPct val="120000"/>
              </a:lnSpc>
            </a:pPr>
            <a:endParaRPr lang="en-IN" sz="1200" b="1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8492" y="286876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xmlns="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624797" cy="83099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Results: Seasonal Performance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04983" y="1770016"/>
          <a:ext cx="8128000" cy="1463040"/>
        </p:xfrm>
        <a:graphic>
          <a:graphicData uri="http://schemas.openxmlformats.org/drawingml/2006/table">
            <a:tbl>
              <a:tblPr/>
              <a:tblGrid>
                <a:gridCol w="4064000"/>
                <a:gridCol w="4064000"/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Kharif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5.64 </a:t>
                      </a:r>
                      <a:r>
                        <a:rPr lang="en-US" b="1" dirty="0" err="1"/>
                        <a:t>Tonnes</a:t>
                      </a:r>
                      <a:r>
                        <a:rPr lang="en-US" b="1" dirty="0"/>
                        <a:t>/Ha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Rabi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5.08 </a:t>
                      </a:r>
                      <a:r>
                        <a:rPr lang="en-US" b="1" dirty="0" err="1"/>
                        <a:t>Tonnes</a:t>
                      </a:r>
                      <a:r>
                        <a:rPr lang="en-US" b="1" dirty="0"/>
                        <a:t>/Ha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Zaid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4.67 </a:t>
                      </a:r>
                      <a:r>
                        <a:rPr lang="en-US" b="1" dirty="0" err="1"/>
                        <a:t>Tonnes</a:t>
                      </a:r>
                      <a:r>
                        <a:rPr lang="en-US" b="1" dirty="0"/>
                        <a:t>/Ha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265" name="Rectangle 1"/>
          <p:cNvSpPr>
            <a:spLocks noChangeArrowheads="1"/>
          </p:cNvSpPr>
          <p:nvPr/>
        </p:nvSpPr>
        <p:spPr bwMode="auto">
          <a:xfrm>
            <a:off x="548640" y="3814354"/>
            <a:ext cx="1219200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Finding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Kharif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recorded the highest average yield.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Zaid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recorded the lowest average yield.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Seasonal conditions have a noticeable effect on agricultural productivity.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Add: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Seasonal Yield bar chart.</a:t>
            </a:r>
          </a:p>
        </p:txBody>
      </p:sp>
    </p:spTree>
    <p:extLst>
      <p:ext uri="{BB962C8B-B14F-4D97-AF65-F5344CB8AC3E}">
        <p14:creationId xmlns:p14="http://schemas.microsoft.com/office/powerpoint/2010/main" xmlns="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 descr="Screenshot (40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9" name="Picture 8" descr="Screenshot (4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9" name="Picture 8" descr="Screenshot (4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9" name="Picture 8" descr="Screenshot (4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9" name="Picture 8" descr="Screenshot (4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96388" y="313509"/>
            <a:ext cx="5904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Machine Learning</a:t>
            </a:r>
            <a:endParaRPr lang="en-US"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31074" y="1254035"/>
            <a:ext cx="1021515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Crop Yield </a:t>
            </a:r>
            <a:r>
              <a:rPr lang="en-US" sz="2000" b="1" dirty="0" smtClean="0"/>
              <a:t>Prediction </a:t>
            </a:r>
            <a:endParaRPr lang="en-US" sz="2000" b="1" dirty="0" smtClean="0"/>
          </a:p>
          <a:p>
            <a:r>
              <a:rPr lang="en-US" dirty="0" smtClean="0"/>
              <a:t>Three regression models were evaluated:</a:t>
            </a:r>
          </a:p>
          <a:p>
            <a:r>
              <a:rPr lang="en-US" dirty="0" smtClean="0"/>
              <a:t>Linear Regression </a:t>
            </a:r>
          </a:p>
          <a:p>
            <a:r>
              <a:rPr lang="en-US" dirty="0" smtClean="0"/>
              <a:t>Random Forest Regression </a:t>
            </a:r>
          </a:p>
          <a:p>
            <a:r>
              <a:rPr lang="en-US" dirty="0" smtClean="0"/>
              <a:t>Gradient Boosting Regression </a:t>
            </a:r>
          </a:p>
          <a:p>
            <a:r>
              <a:rPr lang="en-US" dirty="0" smtClean="0"/>
              <a:t>Best </a:t>
            </a:r>
            <a:r>
              <a:rPr lang="en-US" dirty="0" smtClean="0"/>
              <a:t>Model</a:t>
            </a:r>
          </a:p>
          <a:p>
            <a:endParaRPr lang="en-US" dirty="0" smtClean="0"/>
          </a:p>
          <a:p>
            <a:r>
              <a:rPr lang="en-US" sz="2000" b="1" dirty="0" smtClean="0"/>
              <a:t>Gradient </a:t>
            </a:r>
            <a:r>
              <a:rPr lang="en-US" sz="2000" b="1" dirty="0" smtClean="0"/>
              <a:t>Boosting Regression</a:t>
            </a:r>
          </a:p>
          <a:p>
            <a:r>
              <a:rPr lang="en-US" b="1" dirty="0" smtClean="0"/>
              <a:t>R² Score:</a:t>
            </a:r>
            <a:r>
              <a:rPr lang="en-US" dirty="0" smtClean="0"/>
              <a:t> 0.9709</a:t>
            </a:r>
            <a:br>
              <a:rPr lang="en-US" dirty="0" smtClean="0"/>
            </a:br>
            <a:r>
              <a:rPr lang="en-US" b="1" dirty="0" smtClean="0"/>
              <a:t>MAE:</a:t>
            </a:r>
            <a:r>
              <a:rPr lang="en-US" dirty="0" smtClean="0"/>
              <a:t> 0.7004</a:t>
            </a:r>
            <a:br>
              <a:rPr lang="en-US" dirty="0" smtClean="0"/>
            </a:br>
            <a:r>
              <a:rPr lang="en-US" b="1" dirty="0" smtClean="0"/>
              <a:t>RMSE:</a:t>
            </a:r>
            <a:r>
              <a:rPr lang="en-US" dirty="0" smtClean="0"/>
              <a:t> </a:t>
            </a:r>
            <a:r>
              <a:rPr lang="en-US" dirty="0" smtClean="0"/>
              <a:t>2.1176</a:t>
            </a:r>
          </a:p>
          <a:p>
            <a:endParaRPr lang="en-US" dirty="0" smtClean="0"/>
          </a:p>
          <a:p>
            <a:r>
              <a:rPr lang="en-US" sz="2000" b="1" dirty="0" smtClean="0"/>
              <a:t>Purpose</a:t>
            </a:r>
          </a:p>
          <a:p>
            <a:r>
              <a:rPr lang="en-US" dirty="0" smtClean="0"/>
              <a:t>Machine Learning was used to:</a:t>
            </a:r>
          </a:p>
          <a:p>
            <a:r>
              <a:rPr lang="en-US" dirty="0" smtClean="0"/>
              <a:t>Predict crop yield. </a:t>
            </a:r>
          </a:p>
          <a:p>
            <a:r>
              <a:rPr lang="en-US" dirty="0" smtClean="0"/>
              <a:t>Identify important factors influencing yield. </a:t>
            </a:r>
          </a:p>
          <a:p>
            <a:r>
              <a:rPr lang="en-US" dirty="0" smtClean="0"/>
              <a:t>Provide an additional predictive perspective for agricultural planning.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57201" y="222069"/>
            <a:ext cx="59566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RECOMMENDATION</a:t>
            </a:r>
            <a:endParaRPr lang="en-US" sz="4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13954" y="1476103"/>
            <a:ext cx="9457509" cy="3780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Plan agricultural activities according to seasonal performance.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Select </a:t>
            </a:r>
            <a:r>
              <a:rPr lang="en-US" dirty="0" smtClean="0"/>
              <a:t>crops based on observed productivity and profitability.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Improve </a:t>
            </a:r>
            <a:r>
              <a:rPr lang="en-US" dirty="0" smtClean="0"/>
              <a:t>irrigation strategies where water efficiency is low.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Monitor </a:t>
            </a:r>
            <a:r>
              <a:rPr lang="en-US" dirty="0" smtClean="0"/>
              <a:t>rainfall, temperature and soil moisture.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Optimize </a:t>
            </a:r>
            <a:r>
              <a:rPr lang="en-US" dirty="0" smtClean="0"/>
              <a:t>fertilizer and pesticide usage.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Closely </a:t>
            </a:r>
            <a:r>
              <a:rPr lang="en-US" dirty="0" smtClean="0"/>
              <a:t>monitor high-risk disease and pest periods.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Use </a:t>
            </a:r>
            <a:r>
              <a:rPr lang="en-US" dirty="0" smtClean="0"/>
              <a:t>the API as a comparative decision-support indicator.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Use </a:t>
            </a:r>
            <a:r>
              <a:rPr lang="en-US" dirty="0" smtClean="0"/>
              <a:t>ML predictions as an additional tool for yield planning.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Continue </a:t>
            </a:r>
            <a:r>
              <a:rPr lang="en-US" dirty="0" smtClean="0"/>
              <a:t>collecting agricultural data for future analysis.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00891" y="1541417"/>
            <a:ext cx="97187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Develop a real-time agricultural monitoring dashboard</a:t>
            </a:r>
            <a:r>
              <a:rPr lang="en-US" dirty="0" smtClean="0"/>
              <a:t>. 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Integrate </a:t>
            </a:r>
            <a:r>
              <a:rPr lang="en-US" dirty="0" smtClean="0"/>
              <a:t>live weather and rainfall data.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Add </a:t>
            </a:r>
            <a:r>
              <a:rPr lang="en-US" dirty="0" smtClean="0"/>
              <a:t>satellite/remote-sensing information.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Develop </a:t>
            </a:r>
            <a:r>
              <a:rPr lang="en-US" dirty="0" smtClean="0"/>
              <a:t>crop-specific yield prediction models.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Add </a:t>
            </a:r>
            <a:r>
              <a:rPr lang="en-US" dirty="0" smtClean="0"/>
              <a:t>disease and pest prediction.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Introduce </a:t>
            </a:r>
            <a:r>
              <a:rPr lang="en-US" dirty="0" smtClean="0"/>
              <a:t>real-time irrigation recommendations.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Deploy </a:t>
            </a:r>
            <a:r>
              <a:rPr lang="en-US" dirty="0" smtClean="0"/>
              <a:t>the ML model as a web/mobile application. </a:t>
            </a:r>
            <a:endParaRPr lang="en-US" dirty="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Use </a:t>
            </a:r>
            <a:r>
              <a:rPr lang="en-US" dirty="0" smtClean="0"/>
              <a:t>larger datasets for improved generalization.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8271053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Project Repository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Seasonal Agriculture Performance </a:t>
            </a:r>
            <a:r>
              <a:rPr lang="en-US" sz="2000" dirty="0" smtClean="0"/>
              <a:t>Analysis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Include :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Dataset </a:t>
            </a:r>
          </a:p>
          <a:p>
            <a:pPr>
              <a:lnSpc>
                <a:spcPct val="150000"/>
              </a:lnSpc>
            </a:pPr>
            <a:r>
              <a:rPr lang="en-US" dirty="0" err="1" smtClean="0"/>
              <a:t>Colab</a:t>
            </a:r>
            <a:r>
              <a:rPr lang="en-US" dirty="0" smtClean="0"/>
              <a:t> </a:t>
            </a:r>
            <a:r>
              <a:rPr lang="en-US" dirty="0" smtClean="0"/>
              <a:t>Notebook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Results &amp; Graphs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Requirements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sz="2400" b="1" dirty="0" err="1" smtClean="0"/>
              <a:t>GitHub</a:t>
            </a:r>
            <a:r>
              <a:rPr lang="en-US" sz="2400" b="1" dirty="0" smtClean="0"/>
              <a:t> </a:t>
            </a:r>
            <a:r>
              <a:rPr lang="en-US" sz="2400" b="1" dirty="0" smtClean="0"/>
              <a:t>repository link </a:t>
            </a:r>
            <a:r>
              <a:rPr lang="en-US" sz="2400" b="1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en-US" sz="2000" b="1" u="sng" dirty="0" smtClean="0">
                <a:solidFill>
                  <a:schemeClr val="accent1">
                    <a:lumMod val="50000"/>
                  </a:schemeClr>
                </a:solidFill>
              </a:rPr>
              <a:t>https://github.com/kishoreb13/seasonal-agriculture-performance-analysis.git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31" y="226898"/>
            <a:ext cx="10949986" cy="884658"/>
          </a:xfrm>
        </p:spPr>
        <p:txBody>
          <a:bodyPr>
            <a:normAutofit/>
          </a:bodyPr>
          <a:lstStyle/>
          <a:p>
            <a:r>
              <a:rPr lang="en-IN" sz="3200" dirty="0"/>
              <a:t>VOIS Course completion certificate </a:t>
            </a:r>
            <a:r>
              <a:rPr lang="en-IN" sz="3200" dirty="0" smtClean="0"/>
              <a:t>- </a:t>
            </a:r>
            <a:r>
              <a:rPr lang="en-IN" sz="3200" dirty="0"/>
              <a:t>Data Visualization 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 descr="data visualization_page-0001 (1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979714"/>
            <a:ext cx="11508377" cy="566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03072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1413</TotalTime>
  <Words>523</Words>
  <Application>Microsoft Office PowerPoint</Application>
  <PresentationFormat>Custom</PresentationFormat>
  <Paragraphs>132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Facet</vt:lpstr>
      <vt:lpstr>SEASONAL AGRICULTURE PERFORMANCE ANALYSIS</vt:lpstr>
      <vt:lpstr>PROBLEM  STATEMENT</vt:lpstr>
      <vt:lpstr>Project Description </vt:lpstr>
      <vt:lpstr>Slide 4</vt:lpstr>
      <vt:lpstr>WHO ARE THE END USERS?</vt:lpstr>
      <vt:lpstr>Technology Used</vt:lpstr>
      <vt:lpstr>Results: Seasonal Performance</vt:lpstr>
      <vt:lpstr>Slide 8</vt:lpstr>
      <vt:lpstr>RESULTS </vt:lpstr>
      <vt:lpstr>RESULTS </vt:lpstr>
      <vt:lpstr>RESULTS </vt:lpstr>
      <vt:lpstr>RESULTS </vt:lpstr>
      <vt:lpstr>Slide 13</vt:lpstr>
      <vt:lpstr>Slide 14</vt:lpstr>
      <vt:lpstr>Future scope</vt:lpstr>
      <vt:lpstr>GitHub Link</vt:lpstr>
      <vt:lpstr>VOIS Course completion certificate - Data Visualization 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User</cp:lastModifiedBy>
  <cp:revision>112</cp:revision>
  <dcterms:created xsi:type="dcterms:W3CDTF">2021-07-11T13:13:15Z</dcterms:created>
  <dcterms:modified xsi:type="dcterms:W3CDTF">2026-09-06T09:00:05Z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